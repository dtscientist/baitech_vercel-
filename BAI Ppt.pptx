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8" r:id="rId5"/>
    <p:sldId id="260" r:id="rId6"/>
    <p:sldId id="269" r:id="rId7"/>
    <p:sldId id="261" r:id="rId8"/>
    <p:sldId id="262" r:id="rId9"/>
    <p:sldId id="264" r:id="rId10"/>
    <p:sldId id="26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C110-BC7E-C397-A21B-4B0EA4B8F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64C88-83C8-3AF8-5872-09D541A2C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4297B-5162-464A-35F7-17CD8656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A3177-AB30-0A77-2008-F559B8DEA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E8B69-0FC1-7B61-26C9-B04B024C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78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47D5-D554-97A1-43F0-7A02AFC5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3BDB0-78A2-0A1E-67E0-6CDE5A608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C96F6-5443-A0E5-F28C-D6019735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EFDB6-9F6F-A2DF-282A-148BA2A8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0D6-4BE9-3EF0-D04C-7AB40161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37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A829-96A8-7781-2CEB-E1D9B6CC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69474-D77C-1E7C-7455-023E66AD3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8E63C-EA0C-C40F-0F29-D92050FB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F6FCA-6317-4F1C-9725-4457B477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13BE6-4117-BBCD-0F66-F8ECB954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62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52D0-179A-BC41-7AE9-37534C6A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73FC4-007B-260E-03CA-6CD1B02D4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04FCB-A85C-490E-4FEE-5E67D135A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E1EBE-92B6-A7E3-AAE8-8E0F79A59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84569-41C4-8040-A6EC-9917366B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7EBE3-6BE7-240F-6A6C-6960B1E2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25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D473-DC13-1DE9-3259-837E4443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991E6-C347-A3AB-0ECB-38A7FF7B9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9B5B7-3856-25ED-DC42-AA8DA02E1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3AF6F-2199-8CA0-F6D1-ADB1F324A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01568-305F-9605-3E39-5B068EB58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37A21-9BA4-6B8B-BCFD-EE46E155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F53B9-6C1F-2D6C-8596-A8299BB4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BA8854-FDA5-8736-C473-7B542A43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25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0606-C0BA-D321-DCA6-752C32B0D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23FF7-87AD-D6D3-2F75-E7FB33FA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1D13B-919C-8136-ED96-56B54696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7A09-B6A7-FF7F-2A31-99E59BC3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8921A-A621-283F-34D8-3A678897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3A951-1381-D932-D532-16B12AFB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5AE6F-AB1F-A945-7A9E-4D8300AD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5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6A17-0E01-905C-C6D6-0094A818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A45EF-1D2C-23DE-7CD7-D6FFE2841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43096-49FD-45DB-DC64-031DE846A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65FB9-3A9B-0ED9-19B9-DA62F71C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46D8D-EB81-123B-8F1C-5FEAA23E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E4626-146D-387C-9F31-69F0884F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81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CA16-9F6F-4F76-F52E-4F1929C8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8BB45E-75B0-533B-9E84-D714973B0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62630-1E9D-C26E-4FA2-DF62E2367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39A10-4348-BCD0-D66E-8EF81B15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FCAF7-7170-3917-5667-F9AFD2E6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6A802-CB7A-1992-D2EC-586CC62A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47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9282A-35F4-E708-01BB-BF853B0F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659B0-6B35-61CD-A411-314A599AC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A045E-1D73-888E-1F18-4EDABA4B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9863-4C5E-57EA-3968-680A1D9E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0D80B-7164-9C69-BD3A-25462D05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21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50F0F-6661-7A81-33BA-62E774273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9BD77-CFAD-D64E-D019-C8FD76296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FBEFC-39C4-C2CD-323D-4DC4C554D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2D44D-D9A7-3876-3CB0-7CEC12EB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36E0-49B7-4F70-2520-21E39226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04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FCDD9B-9EE6-1924-F5B8-2AD950D4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FEB0-1611-31C0-9F53-6CDB44717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E8FF0-B1B6-E25A-82B7-55267399D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101B1-2922-4E03-B595-19BAFE962CE8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FF56B-C68F-7487-B9F2-F4F9BFEA9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D9BAD-19D4-7AF5-4AAA-FC19B8993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F2D91-F686-4D03-8FC5-489E0913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82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B12047-537B-9C8C-EBC8-626E9EDC2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7097"/>
            <a:ext cx="9144000" cy="2593821"/>
          </a:xfrm>
        </p:spPr>
        <p:txBody>
          <a:bodyPr>
            <a:normAutofit/>
          </a:bodyPr>
          <a:lstStyle/>
          <a:p>
            <a:endParaRPr lang="en-IN" b="1" dirty="0">
              <a:latin typeface="Tw Cen MT Condensed Extra Bold" panose="020B0803020202020204" pitchFamily="34" charset="0"/>
            </a:endParaRPr>
          </a:p>
          <a:p>
            <a:r>
              <a:rPr lang="en-IN" sz="5400" b="1" dirty="0">
                <a:latin typeface="Tw Cen MT Condensed Extra Bold" panose="020B0803020202020204" pitchFamily="34" charset="0"/>
              </a:rPr>
              <a:t>BHARAT AI TECH SERVICES </a:t>
            </a:r>
          </a:p>
          <a:p>
            <a:r>
              <a:rPr lang="en-IN" sz="5400" dirty="0">
                <a:latin typeface="Tw Cen MT Condensed Extra Bold" panose="020B0803020202020204" pitchFamily="34" charset="0"/>
              </a:rPr>
              <a:t>Private Limited</a:t>
            </a:r>
            <a:endParaRPr lang="en-IN" sz="5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1F9F2-2A9E-ABC1-971D-4DA07054A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943" b="94949" l="9944" r="89994">
                        <a14:foregroundMark x1="16448" y1="9868" x2="16260" y2="8702"/>
                        <a14:foregroundMark x1="16260" y1="3108" x2="16823" y2="1943"/>
                        <a14:foregroundMark x1="30832" y1="90287" x2="52846" y2="95338"/>
                        <a14:foregroundMark x1="52846" y1="95338" x2="63727" y2="89977"/>
                        <a14:foregroundMark x1="63727" y1="89977" x2="53346" y2="94949"/>
                        <a14:foregroundMark x1="53346" y1="94949" x2="38962" y2="94406"/>
                        <a14:foregroundMark x1="75172" y1="94872" x2="85053" y2="94872"/>
                        <a14:foregroundMark x1="80801" y1="7459" x2="72733" y2="17949"/>
                        <a14:foregroundMark x1="72733" y1="17949" x2="83052" y2="22844"/>
                        <a14:foregroundMark x1="83052" y1="22844" x2="83302" y2="9013"/>
                        <a14:foregroundMark x1="83302" y1="9013" x2="76235" y2="21134"/>
                        <a14:foregroundMark x1="76235" y1="21134" x2="85553" y2="9557"/>
                        <a14:foregroundMark x1="85553" y1="9557" x2="73233" y2="11500"/>
                        <a14:foregroundMark x1="73233" y1="11500" x2="82614" y2="16706"/>
                        <a14:foregroundMark x1="82614" y1="16706" x2="82552" y2="17327"/>
                        <a14:foregroundMark x1="74234" y1="11810" x2="82739" y2="19580"/>
                        <a14:foregroundMark x1="82739" y1="19580" x2="74234" y2="12044"/>
                        <a14:foregroundMark x1="74234" y1="12044" x2="74234" y2="122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327" y="493059"/>
            <a:ext cx="4625380" cy="372286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0917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10">
          <a:fgClr>
            <a:srgbClr val="0070C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22EDFB-26E5-CC97-F055-AAAB90CDBCF8}"/>
              </a:ext>
            </a:extLst>
          </p:cNvPr>
          <p:cNvSpPr txBox="1"/>
          <p:nvPr/>
        </p:nvSpPr>
        <p:spPr>
          <a:xfrm>
            <a:off x="1082040" y="2514600"/>
            <a:ext cx="995172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Berlin Sans FB Demi" panose="020E0802020502020306" pitchFamily="34" charset="0"/>
              </a:rPr>
              <a:t>How Can We Help You Succeed?</a:t>
            </a:r>
            <a:br>
              <a:rPr lang="en-US" sz="3600" b="1" dirty="0"/>
            </a:br>
            <a:r>
              <a:rPr lang="en-US" sz="2000" dirty="0"/>
              <a:t>Whether you need skilled professionals or reliable outsourcing services, we’re here to support your journey.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92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26D8A73B-8927-34F1-5437-E13AA218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553" y="466165"/>
            <a:ext cx="10515600" cy="744071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IN" sz="3600" b="1" dirty="0">
                <a:latin typeface="Berlin Sans FB Demi" panose="020E0802020502020306" pitchFamily="34" charset="0"/>
              </a:rPr>
              <a:t>Recruitment &amp; Staffing Solutions</a:t>
            </a:r>
            <a:br>
              <a:rPr lang="en-IN" sz="3600" b="1" dirty="0">
                <a:latin typeface="Berlin Sans FB Demi" panose="020E0802020502020306" pitchFamily="34" charset="0"/>
              </a:rPr>
            </a:br>
            <a:r>
              <a:rPr lang="en-IN" sz="2000" b="1" dirty="0"/>
              <a:t>Find the Right Talent. Build the Right Future.</a:t>
            </a:r>
            <a:br>
              <a:rPr lang="en-IN" sz="2200" dirty="0"/>
            </a:b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EDCE-E4BF-DDA7-14C0-84DCF734A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0236"/>
            <a:ext cx="10515600" cy="4966727"/>
          </a:xfrm>
          <a:noFill/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Permanent Recruitment </a:t>
            </a:r>
            <a:endParaRPr lang="en-IN" sz="2000" dirty="0"/>
          </a:p>
          <a:p>
            <a:pPr marL="0" indent="0">
              <a:buNone/>
            </a:pPr>
            <a:r>
              <a:rPr lang="en-IN" sz="1800" dirty="0"/>
              <a:t>       We help you find skilled professionals who align with your company’s culture and long-term goals. From   entry-level roles to executive leadership, we ensure a perfect fit.</a:t>
            </a:r>
          </a:p>
          <a:p>
            <a:pPr marL="0" indent="0">
              <a:buNone/>
            </a:pPr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Contract to-Hire Staffing</a:t>
            </a:r>
            <a:endParaRPr lang="en-IN" sz="2000" dirty="0"/>
          </a:p>
          <a:p>
            <a:pPr marL="0" indent="0">
              <a:buNone/>
            </a:pPr>
            <a:r>
              <a:rPr lang="en-US" sz="1800" dirty="0"/>
              <a:t>       Our Contract-to-Hire (C2H) model allows you to evaluate candidates on the job before making a permanent hiring decision—reducing risk and ensuring the right fit.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Contract -to-Contract Staffing</a:t>
            </a:r>
            <a:endParaRPr lang="en-IN" sz="2000" dirty="0"/>
          </a:p>
          <a:p>
            <a:pPr marL="0" indent="0">
              <a:buNone/>
            </a:pPr>
            <a:r>
              <a:rPr lang="en-IN" sz="1800" dirty="0"/>
              <a:t>       Access specialized talent for specific projects. Our contract professionals bring expertise and flexibility to help you meet deadlines and business objectives.</a:t>
            </a:r>
          </a:p>
          <a:p>
            <a:pPr marL="0" indent="0">
              <a:buNone/>
            </a:pPr>
            <a:endParaRPr lang="en-IN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Executive Search</a:t>
            </a:r>
            <a:endParaRPr lang="en-IN" sz="2000" dirty="0"/>
          </a:p>
          <a:p>
            <a:pPr marL="0" indent="0">
              <a:buNone/>
            </a:pPr>
            <a:r>
              <a:rPr lang="en-IN" sz="1800" dirty="0"/>
              <a:t>       We identify and attract high-impact leaders who drive growth and innovation within your organization.</a:t>
            </a:r>
          </a:p>
        </p:txBody>
      </p:sp>
    </p:spTree>
    <p:extLst>
      <p:ext uri="{BB962C8B-B14F-4D97-AF65-F5344CB8AC3E}">
        <p14:creationId xmlns:p14="http://schemas.microsoft.com/office/powerpoint/2010/main" val="253369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0D98A-27D8-0E97-8656-656CD108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612"/>
            <a:ext cx="10515600" cy="830076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Berlin Sans FB Demi" panose="020E0802020502020306" pitchFamily="34" charset="0"/>
              </a:rPr>
              <a:t>Our Process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555D5-AA58-B918-2BDE-4BAF46919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lvl="0"/>
            <a:r>
              <a:rPr lang="en-IN" sz="2000" b="1" dirty="0"/>
              <a:t>Understanding Your Needs</a:t>
            </a:r>
            <a:br>
              <a:rPr lang="en-IN" dirty="0"/>
            </a:br>
            <a:r>
              <a:rPr lang="en-IN" dirty="0"/>
              <a:t>   </a:t>
            </a:r>
            <a:r>
              <a:rPr lang="en-IN" sz="1800" dirty="0"/>
              <a:t>We analyse your business requirements, culture, and job expectations. </a:t>
            </a:r>
          </a:p>
          <a:p>
            <a:pPr lvl="0"/>
            <a:r>
              <a:rPr lang="en-IN" sz="2000" b="1" dirty="0"/>
              <a:t>Sourcing &amp; Screening</a:t>
            </a:r>
            <a:br>
              <a:rPr lang="en-IN" dirty="0"/>
            </a:br>
            <a:r>
              <a:rPr lang="en-IN" dirty="0"/>
              <a:t>   </a:t>
            </a:r>
            <a:r>
              <a:rPr lang="en-IN" sz="1800" dirty="0"/>
              <a:t>We identify, evaluate, and shortlist the best candidates. </a:t>
            </a:r>
          </a:p>
          <a:p>
            <a:pPr lvl="0"/>
            <a:r>
              <a:rPr lang="en-IN" sz="2000" b="1" dirty="0"/>
              <a:t>Interview &amp; Selection</a:t>
            </a:r>
            <a:br>
              <a:rPr lang="en-IN" dirty="0"/>
            </a:br>
            <a:r>
              <a:rPr lang="en-IN" dirty="0"/>
              <a:t>  </a:t>
            </a:r>
            <a:r>
              <a:rPr lang="en-IN" sz="1800" dirty="0"/>
              <a:t>We coordinate interviews and assist in final decision-making. </a:t>
            </a:r>
          </a:p>
          <a:p>
            <a:pPr lvl="0"/>
            <a:r>
              <a:rPr lang="en-IN" sz="2000" b="1" dirty="0"/>
              <a:t>Onboarding Support</a:t>
            </a:r>
            <a:br>
              <a:rPr lang="en-IN" dirty="0"/>
            </a:br>
            <a:r>
              <a:rPr lang="en-IN" dirty="0"/>
              <a:t>   </a:t>
            </a:r>
            <a:r>
              <a:rPr lang="en-IN" sz="1800" dirty="0"/>
              <a:t>We ensure a smooth transition for both employer and candidate.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48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DB3B-8A44-5A14-DD30-8B168880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859"/>
            <a:ext cx="10515600" cy="1174376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Berlin Sans FB Demi" panose="020E0802020502020306" pitchFamily="34" charset="0"/>
              </a:rPr>
              <a:t>Outsourcing Services</a:t>
            </a:r>
            <a:br>
              <a:rPr lang="en-IN" dirty="0"/>
            </a:br>
            <a:r>
              <a:rPr lang="en-IN" sz="2200" b="1" dirty="0"/>
              <a:t>Focus on Your Business. We Handle the Rest.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B811A-95B6-ED51-68A7-DF95E3C48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777"/>
            <a:ext cx="10515600" cy="4088186"/>
          </a:xfrm>
        </p:spPr>
        <p:txBody>
          <a:bodyPr/>
          <a:lstStyle/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400" b="1" dirty="0"/>
              <a:t>Business Process Outsourcing (BPO)</a:t>
            </a:r>
            <a:r>
              <a:rPr lang="en-IN" sz="2400" dirty="0"/>
              <a:t> </a:t>
            </a:r>
            <a:r>
              <a:rPr lang="en-IN" dirty="0"/>
              <a:t>– </a:t>
            </a:r>
            <a:r>
              <a:rPr lang="en-IN" sz="2400" dirty="0"/>
              <a:t>Manage daily operations smoothly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400" b="1" dirty="0"/>
              <a:t>IT Outsourcing</a:t>
            </a:r>
            <a:r>
              <a:rPr lang="en-IN" sz="2400" dirty="0"/>
              <a:t> – Technical support and development services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400" b="1" dirty="0"/>
              <a:t>Back Office Support</a:t>
            </a:r>
            <a:r>
              <a:rPr lang="en-IN" sz="2400" dirty="0"/>
              <a:t> – Data entry, documentation, and admin tasks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400" b="1" dirty="0"/>
              <a:t>Customer Support</a:t>
            </a:r>
            <a:r>
              <a:rPr lang="en-IN" sz="2400" dirty="0"/>
              <a:t> – Call, email, and chat support services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191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9C087-04FB-BDA2-17FF-8C868807C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7153"/>
            <a:ext cx="10515600" cy="713535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Berlin Sans FB Demi" panose="020E0802020502020306" pitchFamily="34" charset="0"/>
              </a:rPr>
              <a:t>How It Works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44A2-D31B-0526-64AC-32A1D7847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Understand your requirements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Assign the right team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Execute tasks efficiently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Deliver consistent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61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DB25-245E-217E-F68A-4B5398E3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9929"/>
            <a:ext cx="10515600" cy="910759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Berlin Sans FB Demi" panose="020E0802020502020306" pitchFamily="34" charset="0"/>
              </a:rPr>
              <a:t>Why Leading Businesses Choose Us</a:t>
            </a:r>
            <a:br>
              <a:rPr lang="en-IN" sz="3200" dirty="0">
                <a:latin typeface="Berlin Sans FB Demi" panose="020E0802020502020306" pitchFamily="34" charset="0"/>
              </a:rPr>
            </a:br>
            <a:endParaRPr lang="en-IN" sz="3200" dirty="0"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F8C8-BAF8-8BF5-27BB-AE3C6EFD1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Speed &amp; Precision</a:t>
            </a:r>
            <a:r>
              <a:rPr lang="en-IN" dirty="0"/>
              <a:t> – </a:t>
            </a:r>
            <a:r>
              <a:rPr lang="en-IN" sz="2400" dirty="0"/>
              <a:t>Faster hiring and execution without compromising quality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Cost Efficiency</a:t>
            </a:r>
            <a:r>
              <a:rPr lang="en-IN" dirty="0"/>
              <a:t> – </a:t>
            </a:r>
            <a:r>
              <a:rPr lang="en-IN" sz="2400" dirty="0"/>
              <a:t>Reduce operational costs while improving performance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Expert Talent Pool</a:t>
            </a:r>
            <a:r>
              <a:rPr lang="en-IN" dirty="0"/>
              <a:t> – </a:t>
            </a:r>
            <a:r>
              <a:rPr lang="en-IN" sz="2400" dirty="0"/>
              <a:t>Pre-vetted professionals ready to deliver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Scalable Solutions</a:t>
            </a:r>
            <a:r>
              <a:rPr lang="en-IN" dirty="0"/>
              <a:t> – </a:t>
            </a:r>
            <a:r>
              <a:rPr lang="en-IN" sz="2400" dirty="0"/>
              <a:t>Services that grow with your business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End-to-End Support</a:t>
            </a:r>
            <a:r>
              <a:rPr lang="en-IN" dirty="0"/>
              <a:t> – </a:t>
            </a:r>
            <a:r>
              <a:rPr lang="en-IN" sz="2400" dirty="0"/>
              <a:t>From planning to execution and beyond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903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8395-47AC-3CFD-2A0D-B8F14BAE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6118"/>
            <a:ext cx="10515600" cy="704570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Berlin Sans FB Demi" panose="020E0802020502020306" pitchFamily="34" charset="0"/>
              </a:rPr>
              <a:t>Our Approach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7138-B86E-BA0D-DA24-4F6E39F91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Understand Your Goals</a:t>
            </a:r>
            <a:r>
              <a:rPr lang="en-IN" dirty="0"/>
              <a:t> – </a:t>
            </a:r>
            <a:r>
              <a:rPr lang="en-IN" sz="2400" dirty="0"/>
              <a:t>We align with your business needs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Strategize &amp; Execute</a:t>
            </a:r>
            <a:r>
              <a:rPr lang="en-IN" dirty="0"/>
              <a:t> – </a:t>
            </a:r>
            <a:r>
              <a:rPr lang="en-IN" sz="2400" dirty="0"/>
              <a:t>Tailored hiring and outsourcing plans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Deliver Excellence</a:t>
            </a:r>
            <a:r>
              <a:rPr lang="en-IN" dirty="0"/>
              <a:t> – </a:t>
            </a:r>
            <a:r>
              <a:rPr lang="en-IN" sz="2400" dirty="0"/>
              <a:t>High-quality talent and seamless operations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Drive Growth</a:t>
            </a:r>
            <a:r>
              <a:rPr lang="en-IN" dirty="0"/>
              <a:t> – </a:t>
            </a:r>
            <a:r>
              <a:rPr lang="en-IN" sz="2400" dirty="0"/>
              <a:t>Helping you focus on what matters most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323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C6949-C945-FA3C-1C5D-CA89C8520701}"/>
              </a:ext>
            </a:extLst>
          </p:cNvPr>
          <p:cNvSpPr txBox="1"/>
          <p:nvPr/>
        </p:nvSpPr>
        <p:spPr>
          <a:xfrm>
            <a:off x="2113935" y="2548364"/>
            <a:ext cx="8527171" cy="179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 kern="100" dirty="0"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 Generation &amp; Email Marketing</a:t>
            </a:r>
            <a:endParaRPr lang="en-IN" sz="3200" kern="100" dirty="0">
              <a:effectLst/>
              <a:latin typeface="Berlin Sans FB Demi" panose="020E08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Attract. Engage. Convert.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help you generate high-quality leads and nurture them through targeted email marketing—turning prospects into loyal customers.</a:t>
            </a:r>
          </a:p>
        </p:txBody>
      </p:sp>
    </p:spTree>
    <p:extLst>
      <p:ext uri="{BB962C8B-B14F-4D97-AF65-F5344CB8AC3E}">
        <p14:creationId xmlns:p14="http://schemas.microsoft.com/office/powerpoint/2010/main" val="349976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FC91-16E5-3E5A-5223-887B3E4D8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660"/>
            <a:ext cx="10515600" cy="129758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w Cen MT Condensed Extra Bold" panose="020B0803020202020204" pitchFamily="34" charset="0"/>
              </a:rPr>
              <a:t>Lead Generation Process</a:t>
            </a:r>
            <a:br>
              <a:rPr lang="en-US" b="1" dirty="0"/>
            </a:br>
            <a:r>
              <a:rPr lang="en-US" sz="2200" b="1" dirty="0"/>
              <a:t>Simple. Targeted. Results-Driven.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E6CB27-B83C-2646-3909-7C14396C3F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8251"/>
            <a:ext cx="9910482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Define Audience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Identify your ideal customers.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 Data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Research and create a targeted lead list.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Reach Out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Engage through email, LinkedIn, and other channels.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Qualify Leads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Filter prospects based on interest and intent.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Book Meetings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Schedule calls with decision-makers.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Optimize &amp; Grow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Track performance and improve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21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5D52-CE9A-912E-32BE-CEE6FAC88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w Cen MT Condensed Extra Bold" panose="020B0803020202020204" pitchFamily="34" charset="0"/>
              </a:rPr>
              <a:t>Email Marketing</a:t>
            </a:r>
            <a:br>
              <a:rPr lang="en-IN" sz="1800" b="1" dirty="0"/>
            </a:br>
            <a:r>
              <a:rPr lang="en-US" sz="2000" b="1" dirty="0"/>
              <a:t>Reach the Right Audience. Drive Real Engagement.</a:t>
            </a:r>
            <a:br>
              <a:rPr lang="en-US" sz="1800" b="1" dirty="0"/>
            </a:br>
            <a:br>
              <a:rPr lang="en-IN" sz="1800" dirty="0"/>
            </a:b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29B91-D65B-79C4-231B-86E9825EA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We create targeted email campaigns that connect with your audience, build relationships, and generate measurable results.</a:t>
            </a:r>
          </a:p>
          <a:p>
            <a:pPr marL="0" lvl="0" indent="0">
              <a:buNone/>
            </a:pPr>
            <a:endParaRPr lang="en-IN" dirty="0"/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200" b="1" dirty="0"/>
              <a:t>Campaign strategy &amp; planning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200" b="1" dirty="0"/>
              <a:t>Professional email design &amp; content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200" b="1" dirty="0"/>
              <a:t>Audience segmentation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200" b="1" dirty="0"/>
              <a:t>Automated follow-ups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sz="2200" b="1" dirty="0"/>
              <a:t>Performance tracking &amp;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99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4FBE-334F-A22F-9E37-254A4141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w Cen MT Condensed Extra Bold" panose="020B0803020202020204" pitchFamily="34" charset="0"/>
              </a:rPr>
              <a:t>Our Process</a:t>
            </a:r>
            <a:br>
              <a:rPr lang="en-IN" dirty="0"/>
            </a:br>
            <a:r>
              <a:rPr lang="en-IN" sz="2000" b="1" dirty="0"/>
              <a:t>Simple. Effective. Results-Driven.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824B5-1451-2BB9-D561-4BC8D5476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Define Audience</a:t>
            </a:r>
            <a:r>
              <a:rPr lang="en-IN" dirty="0"/>
              <a:t> – </a:t>
            </a:r>
            <a:r>
              <a:rPr lang="en-IN" sz="2400" dirty="0"/>
              <a:t>Target the right prospects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Generate Leads</a:t>
            </a:r>
            <a:r>
              <a:rPr lang="en-IN" dirty="0"/>
              <a:t> – </a:t>
            </a:r>
            <a:r>
              <a:rPr lang="en-IN" sz="2400" dirty="0"/>
              <a:t>Build and engage your pipeline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Nurture with Email</a:t>
            </a:r>
            <a:r>
              <a:rPr lang="en-IN" dirty="0"/>
              <a:t> – </a:t>
            </a:r>
            <a:r>
              <a:rPr lang="en-IN" sz="2400" dirty="0"/>
              <a:t>Send personalized campaigns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Convert</a:t>
            </a:r>
            <a:r>
              <a:rPr lang="en-IN" dirty="0"/>
              <a:t> – </a:t>
            </a:r>
            <a:r>
              <a:rPr lang="en-IN" sz="2400" dirty="0"/>
              <a:t>Turn leads into customers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Optimize</a:t>
            </a:r>
            <a:r>
              <a:rPr lang="en-IN" dirty="0"/>
              <a:t> – </a:t>
            </a:r>
            <a:r>
              <a:rPr lang="en-IN" sz="2400" dirty="0"/>
              <a:t>Improve performance continuously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89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BFCB-A3DC-1192-5AB1-F3B58970A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w Cen MT Condensed Extra Bold" panose="020B0803020202020204" pitchFamily="34" charset="0"/>
              </a:rPr>
              <a:t>Why Choose Us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CC658-EFB7-B23A-14AF-F5E579C07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High-quality, targeted leads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Personalized email campaigns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Better engagement and conversions </a:t>
            </a:r>
          </a:p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en-IN" b="1" dirty="0"/>
              <a:t>Scalable and measurable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30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610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Berlin Sans FB Demi</vt:lpstr>
      <vt:lpstr>Calibri</vt:lpstr>
      <vt:lpstr>Calibri Light</vt:lpstr>
      <vt:lpstr>Tw Cen MT Condensed Extra Bold</vt:lpstr>
      <vt:lpstr>Wingdings</vt:lpstr>
      <vt:lpstr>Office Theme</vt:lpstr>
      <vt:lpstr>PowerPoint Presentation</vt:lpstr>
      <vt:lpstr>PowerPoint Presentation</vt:lpstr>
      <vt:lpstr>Recruitment &amp; Staffing Solutions Find the Right Talent. Build the Right Future. </vt:lpstr>
      <vt:lpstr>Our Process </vt:lpstr>
      <vt:lpstr>Outsourcing Services Focus on Your Business. We Handle the Rest. </vt:lpstr>
      <vt:lpstr>How It Works </vt:lpstr>
      <vt:lpstr>Why Leading Businesses Choose Us </vt:lpstr>
      <vt:lpstr>Our Approach </vt:lpstr>
      <vt:lpstr>PowerPoint Presentation</vt:lpstr>
      <vt:lpstr>Lead Generation Process Simple. Targeted. Results-Driven. </vt:lpstr>
      <vt:lpstr>Email Marketing Reach the Right Audience. Drive Real Engagement.  </vt:lpstr>
      <vt:lpstr>Our Process Simple. Effective. Results-Driven.</vt:lpstr>
      <vt:lpstr>Why Choose Us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A</dc:creator>
  <cp:lastModifiedBy>Pavan A</cp:lastModifiedBy>
  <cp:revision>2</cp:revision>
  <dcterms:created xsi:type="dcterms:W3CDTF">2026-04-07T07:27:58Z</dcterms:created>
  <dcterms:modified xsi:type="dcterms:W3CDTF">2026-04-07T12:41:41Z</dcterms:modified>
</cp:coreProperties>
</file>